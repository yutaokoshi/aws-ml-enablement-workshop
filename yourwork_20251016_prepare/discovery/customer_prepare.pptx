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430" r:id="rId2"/>
    <p:sldId id="500" r:id="rId3"/>
    <p:sldId id="502" r:id="rId4"/>
    <p:sldId id="504" r:id="rId5"/>
    <p:sldId id="503" r:id="rId6"/>
    <p:sldId id="505" r:id="rId7"/>
    <p:sldId id="506" r:id="rId8"/>
    <p:sldId id="50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D1AFB3AA-7E0D-5C43-9FDA-195E4FEDE2A5}">
          <p14:sldIdLst>
            <p14:sldId id="430"/>
          </p14:sldIdLst>
        </p14:section>
        <p14:section name="OK例" id="{B65C32A8-EF49-134F-AFA7-66CB5E9A5722}">
          <p14:sldIdLst>
            <p14:sldId id="500"/>
            <p14:sldId id="502"/>
            <p14:sldId id="504"/>
            <p14:sldId id="503"/>
            <p14:sldId id="505"/>
          </p14:sldIdLst>
        </p14:section>
        <p14:section name="NG例" id="{E8235C03-F95D-5848-9788-C06B785E5835}">
          <p14:sldIdLst>
            <p14:sldId id="506"/>
          </p14:sldIdLst>
        </p14:section>
        <p14:section name="宿題" id="{A69FC270-3974-A843-92DA-F1645608DAED}">
          <p14:sldIdLst>
            <p14:sldId id="5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A0033"/>
    <a:srgbClr val="FCFCFD"/>
    <a:srgbClr val="7F1EE7"/>
    <a:srgbClr val="0000A3"/>
    <a:srgbClr val="B81EE7"/>
    <a:srgbClr val="5400AD"/>
    <a:srgbClr val="1D262F"/>
    <a:srgbClr val="2444C8"/>
    <a:srgbClr val="EB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61" autoAdjust="0"/>
    <p:restoredTop sz="82993" autoAdjust="0"/>
  </p:normalViewPr>
  <p:slideViewPr>
    <p:cSldViewPr snapToGrid="0">
      <p:cViewPr varScale="1">
        <p:scale>
          <a:sx n="105" d="100"/>
          <a:sy n="105" d="100"/>
        </p:scale>
        <p:origin x="776" y="192"/>
      </p:cViewPr>
      <p:guideLst>
        <p:guide orient="horz" pos="129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404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873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EDF2C-4EFF-0B7F-ACF2-82F089105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161DB0B-ECF6-34A2-052A-0FD046271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524E2B2-B56C-73B6-A636-7E6A859F7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E3C978-C0D0-2890-6AB1-F13FADCCE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417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38B41-F96E-1CEE-2205-A3EE8D0A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ED1D70F-6072-5DB6-2E8F-E54ACC1D2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F10CC41-B770-FF36-A467-F7A25276E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33D6B4-DF7E-6FC8-AA20-C0489C414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545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2C8CC-F3F4-830D-8B2C-23FD786B0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A49E9E5-960A-3EAA-8585-AF584B7F4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4233867-4629-FF1C-5562-780E17F45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BBBB74-C9CF-23A3-DF14-CDFDCA96E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01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276F6-4FF3-6560-B922-A77A72A3D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EA036B7-01AD-9881-2D25-657A3A7F9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916A96D-FCED-4593-1397-AD4D429A5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EB2369-EDBC-DCFB-306D-AFE535C55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92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18FCA6E-0F0D-5B4E-AFC7-58FBEA64C921}" type="datetime1">
              <a:rPr lang="ja-JP" altLang="en-US" smtClean="0"/>
              <a:t>2025/10/6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9F003766-63B8-A344-A39C-4692C563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068ED4C5-7753-0A2C-75BA-AA89D2EAF5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11449050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00548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5E990763-DD24-2844-97C4-5F39F580D678}" type="datetime1">
              <a:rPr lang="ja-JP" altLang="en-US" smtClean="0"/>
              <a:t>2025/10/6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18F2-2506-4A8B-983C-1A77A245E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3838" y="62103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itle Placeholder 19">
            <a:extLst>
              <a:ext uri="{FF2B5EF4-FFF2-40B4-BE49-F238E27FC236}">
                <a16:creationId xmlns:a16="http://schemas.microsoft.com/office/drawing/2014/main" id="{4797D856-648E-41D7-7250-C248B908D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96409"/>
            <a:ext cx="11449050" cy="6179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D8171-6606-4DC3-AA28-D2EE5F0EC812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F50F9-4909-422B-A8DD-8362E94847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4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2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90000"/>
        <a:buFont typeface="Arial" panose="020B0604020202020204" pitchFamily="34" charset="0"/>
        <a:buChar char="•"/>
        <a:defRPr sz="2400" b="0" i="0" kern="1200" baseline="0">
          <a:solidFill>
            <a:schemeClr val="tx2"/>
          </a:solidFill>
          <a:latin typeface="Amazon Ember Display" panose="020F0603020204020204" pitchFamily="34" charset="0"/>
          <a:ea typeface="メイリオ" panose="020B0604030504040204" pitchFamily="34" charset="-128"/>
          <a:cs typeface="+mn-cs"/>
        </a:defRPr>
      </a:lvl1pPr>
      <a:lvl2pPr marL="62865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90000"/>
        <a:buFont typeface="システムフォント（レギュラー）"/>
        <a:buChar char="-"/>
        <a:defRPr sz="2400" b="0" i="0" kern="1200" baseline="0">
          <a:solidFill>
            <a:schemeClr val="tx2"/>
          </a:solidFill>
          <a:latin typeface="Amazon Ember Display" panose="020F0603020204020204" pitchFamily="34" charset="0"/>
          <a:ea typeface="メイリオ" panose="020B0604030504040204" pitchFamily="34" charset="-128"/>
          <a:cs typeface="+mn-cs"/>
        </a:defRPr>
      </a:lvl2pPr>
      <a:lvl3pPr marL="97155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2"/>
          </a:solidFill>
          <a:latin typeface="Amazon Ember Display" panose="020F0603020204020204" pitchFamily="34" charset="0"/>
          <a:ea typeface="メイリオ" panose="020B0604030504040204" pitchFamily="34" charset="-128"/>
          <a:cs typeface="+mn-cs"/>
        </a:defRPr>
      </a:lvl3pPr>
      <a:lvl4pPr marL="1144588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2"/>
          </a:solidFill>
          <a:latin typeface="Amazon Ember Display" panose="020F0603020204020204" pitchFamily="34" charset="0"/>
          <a:ea typeface="メイリオ" panose="020B0604030504040204" pitchFamily="34" charset="-128"/>
          <a:cs typeface="+mn-cs"/>
        </a:defRPr>
      </a:lvl4pPr>
      <a:lvl5pPr marL="1316038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2"/>
          </a:solidFill>
          <a:latin typeface="Amazon Ember Display" panose="020F0603020204020204" pitchFamily="34" charset="0"/>
          <a:ea typeface="メイリオ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 userDrawn="1">
          <p15:clr>
            <a:srgbClr val="F26B43"/>
          </p15:clr>
        </p15:guide>
        <p15:guide id="2" pos="7469" userDrawn="1">
          <p15:clr>
            <a:srgbClr val="F26B43"/>
          </p15:clr>
        </p15:guide>
        <p15:guide id="3" orient="horz" pos="187" userDrawn="1">
          <p15:clr>
            <a:srgbClr val="F26B43"/>
          </p15:clr>
        </p15:guide>
        <p15:guide id="4" orient="horz" pos="3906" userDrawn="1">
          <p15:clr>
            <a:srgbClr val="F26B43"/>
          </p15:clr>
        </p15:guide>
        <p15:guide id="5" orient="horz" pos="86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69994A9-F141-7364-E270-035A1B8F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2D59E1E-0BF2-E471-3892-EA88A0E76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顧客は誰か </a:t>
            </a:r>
            <a:r>
              <a:rPr kumimoji="1" lang="en-US" altLang="ja-JP" dirty="0"/>
              <a:t>? 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052102-ADEC-00F4-EBEB-1B337FDA7E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11449050" cy="461665"/>
          </a:xfrm>
        </p:spPr>
        <p:txBody>
          <a:bodyPr/>
          <a:lstStyle/>
          <a:p>
            <a:r>
              <a:rPr lang="ja-JP" altLang="en-US"/>
              <a:t>今回</a:t>
            </a:r>
            <a:r>
              <a:rPr lang="ja-JP" altLang="en-US" dirty="0"/>
              <a:t>フォーカスする「お客様」の</a:t>
            </a:r>
            <a:r>
              <a:rPr lang="ja-JP" altLang="en-US" b="1" dirty="0"/>
              <a:t>目的</a:t>
            </a:r>
            <a:r>
              <a:rPr lang="ja-JP" altLang="en-US" dirty="0"/>
              <a:t>と</a:t>
            </a:r>
            <a:r>
              <a:rPr lang="ja-JP" altLang="en-US" b="1" dirty="0"/>
              <a:t>行動</a:t>
            </a:r>
            <a:r>
              <a:rPr lang="ja-JP" altLang="en-US" dirty="0"/>
              <a:t>、</a:t>
            </a:r>
            <a:r>
              <a:rPr lang="ja-JP" altLang="en-US" b="1"/>
              <a:t>属性</a:t>
            </a:r>
            <a:r>
              <a:rPr lang="ja-JP" altLang="en-US"/>
              <a:t>を書いて</a:t>
            </a:r>
            <a:r>
              <a:rPr lang="ja-JP" altLang="en-US" dirty="0"/>
              <a:t>共有ください。</a:t>
            </a:r>
          </a:p>
        </p:txBody>
      </p:sp>
      <p:pic>
        <p:nvPicPr>
          <p:cNvPr id="25" name="グラフィックス 24" descr="男性 単色塗りつぶし">
            <a:extLst>
              <a:ext uri="{FF2B5EF4-FFF2-40B4-BE49-F238E27FC236}">
                <a16:creationId xmlns:a16="http://schemas.microsoft.com/office/drawing/2014/main" id="{024C457E-74EF-41A7-A028-3EE6F87CE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4642" y="3459784"/>
            <a:ext cx="1359478" cy="1359478"/>
          </a:xfrm>
          <a:prstGeom prst="rect">
            <a:avLst/>
          </a:prstGeom>
        </p:spPr>
      </p:pic>
      <p:sp>
        <p:nvSpPr>
          <p:cNvPr id="26" name="楕円 25">
            <a:extLst>
              <a:ext uri="{FF2B5EF4-FFF2-40B4-BE49-F238E27FC236}">
                <a16:creationId xmlns:a16="http://schemas.microsoft.com/office/drawing/2014/main" id="{1DF8CC31-BEC1-ABB7-216B-421897DC232E}"/>
              </a:ext>
            </a:extLst>
          </p:cNvPr>
          <p:cNvSpPr/>
          <p:nvPr/>
        </p:nvSpPr>
        <p:spPr>
          <a:xfrm>
            <a:off x="3538104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3575FC2-1A0E-267E-4242-63FB6040C980}"/>
              </a:ext>
            </a:extLst>
          </p:cNvPr>
          <p:cNvSpPr txBox="1"/>
          <p:nvPr/>
        </p:nvSpPr>
        <p:spPr>
          <a:xfrm>
            <a:off x="3938154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目的</a:t>
            </a:r>
            <a:endParaRPr kumimoji="1" lang="en-US" altLang="ja-JP" b="1" dirty="0">
              <a:solidFill>
                <a:srgbClr val="161E2D"/>
              </a:solidFill>
              <a:latin typeface="Amazon Ember Display"/>
              <a:ea typeface="メイリオ"/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76121F9-0F20-B10C-80DC-F0842913DA2E}"/>
              </a:ext>
            </a:extLst>
          </p:cNvPr>
          <p:cNvSpPr/>
          <p:nvPr/>
        </p:nvSpPr>
        <p:spPr>
          <a:xfrm>
            <a:off x="5533159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4FBA2CF-6222-ED39-3DE2-0A04980B4F14}"/>
              </a:ext>
            </a:extLst>
          </p:cNvPr>
          <p:cNvSpPr txBox="1"/>
          <p:nvPr/>
        </p:nvSpPr>
        <p:spPr>
          <a:xfrm>
            <a:off x="6198176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行動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9BD187AF-97A8-AD9C-CD40-E94012E369C1}"/>
              </a:ext>
            </a:extLst>
          </p:cNvPr>
          <p:cNvSpPr/>
          <p:nvPr/>
        </p:nvSpPr>
        <p:spPr>
          <a:xfrm>
            <a:off x="4535631" y="3410251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13A1B29-FA11-10C9-DA80-BD42A19438A4}"/>
              </a:ext>
            </a:extLst>
          </p:cNvPr>
          <p:cNvSpPr txBox="1"/>
          <p:nvPr/>
        </p:nvSpPr>
        <p:spPr>
          <a:xfrm>
            <a:off x="5003222" y="5262300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属性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15FBE1C-09B4-A127-3A55-5B660F8D1D77}"/>
              </a:ext>
            </a:extLst>
          </p:cNvPr>
          <p:cNvSpPr txBox="1"/>
          <p:nvPr/>
        </p:nvSpPr>
        <p:spPr>
          <a:xfrm>
            <a:off x="4551216" y="5644649"/>
            <a:ext cx="2930237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・性別、年代、嗜好 </a:t>
            </a:r>
            <a:r>
              <a:rPr kumimoji="1" lang="en-US" altLang="ja-JP" dirty="0" err="1">
                <a:solidFill>
                  <a:srgbClr val="161E2D"/>
                </a:solidFill>
                <a:latin typeface="Amazon Ember Display"/>
                <a:ea typeface="メイリオ"/>
              </a:rPr>
              <a:t>etc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  <a:p>
            <a:pPr algn="ctr"/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・企業規模、業種、業務 </a:t>
            </a:r>
            <a:r>
              <a:rPr kumimoji="1" lang="en-US" altLang="ja-JP" dirty="0" err="1">
                <a:solidFill>
                  <a:srgbClr val="161E2D"/>
                </a:solidFill>
                <a:latin typeface="Amazon Ember Display"/>
                <a:ea typeface="メイリオ"/>
              </a:rPr>
              <a:t>etc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07CD3D1-D413-5609-9905-BF1F4F69BD79}"/>
              </a:ext>
            </a:extLst>
          </p:cNvPr>
          <p:cNvSpPr txBox="1"/>
          <p:nvPr/>
        </p:nvSpPr>
        <p:spPr>
          <a:xfrm>
            <a:off x="8599489" y="5286970"/>
            <a:ext cx="3186544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kumimoji="1" lang="en-US" altLang="ja-JP" dirty="0">
                <a:solidFill>
                  <a:srgbClr val="161E2D"/>
                </a:solidFill>
                <a:latin typeface="Amazon Ember Display"/>
                <a:ea typeface="メイリオ"/>
              </a:rPr>
              <a:t>※</a:t>
            </a:r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新規サービスの場合は、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  <a:p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お客様が現時点で取っている行動を共有ください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9505F81-4057-01A7-4837-E8870496154D}"/>
              </a:ext>
            </a:extLst>
          </p:cNvPr>
          <p:cNvSpPr txBox="1"/>
          <p:nvPr/>
        </p:nvSpPr>
        <p:spPr>
          <a:xfrm>
            <a:off x="3823854" y="3306182"/>
            <a:ext cx="1636567" cy="124726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・どんな状況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  <a:p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・どんな課題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  <a:p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・どんな動機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  <a:p>
            <a:r>
              <a:rPr kumimoji="1" lang="en-US" altLang="ja-JP" dirty="0" err="1">
                <a:solidFill>
                  <a:srgbClr val="161E2D"/>
                </a:solidFill>
                <a:latin typeface="Amazon Ember Display"/>
                <a:ea typeface="メイリオ"/>
              </a:rPr>
              <a:t>etc</a:t>
            </a:r>
            <a:r>
              <a:rPr kumimoji="1" lang="en-US" altLang="ja-JP" dirty="0">
                <a:solidFill>
                  <a:srgbClr val="161E2D"/>
                </a:solidFill>
                <a:latin typeface="Amazon Ember Display"/>
                <a:ea typeface="メイリオ"/>
              </a:rPr>
              <a:t>…</a:t>
            </a:r>
            <a:endParaRPr kumimoji="1" lang="ja-JP" altLang="en-US" dirty="0">
              <a:solidFill>
                <a:srgbClr val="161E2D"/>
              </a:solidFill>
              <a:latin typeface="Amazon Ember Display"/>
              <a:ea typeface="メイリオ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05F2016-B683-6B7C-4F3A-68FA4FF47B65}"/>
              </a:ext>
            </a:extLst>
          </p:cNvPr>
          <p:cNvSpPr txBox="1"/>
          <p:nvPr/>
        </p:nvSpPr>
        <p:spPr>
          <a:xfrm>
            <a:off x="6716858" y="3245755"/>
            <a:ext cx="1460787" cy="1477328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・どんな手段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  <a:p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・利用頻度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  <a:p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・利用額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  <a:p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・利用期間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  <a:p>
            <a:r>
              <a:rPr kumimoji="1" lang="en-US" altLang="ja-JP" dirty="0" err="1">
                <a:solidFill>
                  <a:srgbClr val="161E2D"/>
                </a:solidFill>
                <a:latin typeface="Amazon Ember Display"/>
                <a:ea typeface="メイリオ"/>
              </a:rPr>
              <a:t>etc</a:t>
            </a:r>
            <a:r>
              <a:rPr kumimoji="1" lang="en-US" altLang="ja-JP" dirty="0">
                <a:solidFill>
                  <a:srgbClr val="161E2D"/>
                </a:solidFill>
                <a:latin typeface="Amazon Ember Display"/>
                <a:ea typeface="メイリオ"/>
              </a:rPr>
              <a:t>…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157DE8D-B3FC-5595-D532-A831BCBCDD34}"/>
              </a:ext>
            </a:extLst>
          </p:cNvPr>
          <p:cNvCxnSpPr>
            <a:cxnSpLocks/>
          </p:cNvCxnSpPr>
          <p:nvPr/>
        </p:nvCxnSpPr>
        <p:spPr>
          <a:xfrm flipH="1" flipV="1">
            <a:off x="7858689" y="4464834"/>
            <a:ext cx="1036833" cy="593189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97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55764-35F0-32A5-BF4C-73A9A5E8C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71A7E-0B88-33F3-4C46-42393F2C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69968958-64FD-1424-AD40-B509FC2D1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OK</a:t>
            </a:r>
            <a:r>
              <a:rPr kumimoji="1" lang="ja-JP" altLang="en-US"/>
              <a:t>例１ </a:t>
            </a:r>
            <a:r>
              <a:rPr kumimoji="1" lang="en-US" altLang="ja-JP" dirty="0"/>
              <a:t>: </a:t>
            </a:r>
            <a:r>
              <a:rPr kumimoji="1" lang="ja-JP" altLang="en-US" dirty="0"/>
              <a:t>英会話サービス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6230D3-C058-1942-90A6-E0212FE3F3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11449050" cy="830997"/>
          </a:xfrm>
        </p:spPr>
        <p:txBody>
          <a:bodyPr/>
          <a:lstStyle/>
          <a:p>
            <a:r>
              <a:rPr lang="ja-JP" altLang="en-US" dirty="0"/>
              <a:t>私達は、海外チームとの円滑な会話を行うため、通勤の隙間時間で勉強をはじめている </a:t>
            </a:r>
            <a:r>
              <a:rPr lang="en-US" altLang="ja-JP" dirty="0"/>
              <a:t>30~40 </a:t>
            </a:r>
            <a:r>
              <a:rPr lang="ja-JP" altLang="en-US" dirty="0"/>
              <a:t>代のグローバル企業に所属する顧客について考えます。</a:t>
            </a:r>
          </a:p>
        </p:txBody>
      </p:sp>
      <p:pic>
        <p:nvPicPr>
          <p:cNvPr id="25" name="グラフィックス 24" descr="男性 単色塗りつぶし">
            <a:extLst>
              <a:ext uri="{FF2B5EF4-FFF2-40B4-BE49-F238E27FC236}">
                <a16:creationId xmlns:a16="http://schemas.microsoft.com/office/drawing/2014/main" id="{6D34636D-39A8-D18C-4789-A02D0D397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4642" y="3459784"/>
            <a:ext cx="1359478" cy="1359478"/>
          </a:xfrm>
          <a:prstGeom prst="rect">
            <a:avLst/>
          </a:prstGeom>
        </p:spPr>
      </p:pic>
      <p:sp>
        <p:nvSpPr>
          <p:cNvPr id="26" name="楕円 25">
            <a:extLst>
              <a:ext uri="{FF2B5EF4-FFF2-40B4-BE49-F238E27FC236}">
                <a16:creationId xmlns:a16="http://schemas.microsoft.com/office/drawing/2014/main" id="{31EEEF43-07F3-8D07-09C4-7543BD73D45C}"/>
              </a:ext>
            </a:extLst>
          </p:cNvPr>
          <p:cNvSpPr/>
          <p:nvPr/>
        </p:nvSpPr>
        <p:spPr>
          <a:xfrm>
            <a:off x="3538104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2D00A62-CBB4-F4B3-C3C2-AC71A076B505}"/>
              </a:ext>
            </a:extLst>
          </p:cNvPr>
          <p:cNvSpPr txBox="1"/>
          <p:nvPr/>
        </p:nvSpPr>
        <p:spPr>
          <a:xfrm>
            <a:off x="3938154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目的</a:t>
            </a:r>
            <a:endParaRPr kumimoji="1" lang="en-US" altLang="ja-JP" b="1" dirty="0">
              <a:solidFill>
                <a:srgbClr val="161E2D"/>
              </a:solidFill>
              <a:latin typeface="Amazon Ember Display"/>
              <a:ea typeface="メイリオ"/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76B24B5D-A3CD-0785-E951-FC50AA02F4BE}"/>
              </a:ext>
            </a:extLst>
          </p:cNvPr>
          <p:cNvSpPr/>
          <p:nvPr/>
        </p:nvSpPr>
        <p:spPr>
          <a:xfrm>
            <a:off x="5533159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8E39C46-0B88-EA00-6E49-3DCA5C0298FB}"/>
              </a:ext>
            </a:extLst>
          </p:cNvPr>
          <p:cNvSpPr txBox="1"/>
          <p:nvPr/>
        </p:nvSpPr>
        <p:spPr>
          <a:xfrm>
            <a:off x="6198176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行動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ABEA35FB-6BAB-E40A-01D9-338FA578F3FD}"/>
              </a:ext>
            </a:extLst>
          </p:cNvPr>
          <p:cNvSpPr/>
          <p:nvPr/>
        </p:nvSpPr>
        <p:spPr>
          <a:xfrm>
            <a:off x="4535631" y="3410251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676AB24C-5FB3-D402-AC8B-E3FAA5DF6984}"/>
              </a:ext>
            </a:extLst>
          </p:cNvPr>
          <p:cNvSpPr txBox="1"/>
          <p:nvPr/>
        </p:nvSpPr>
        <p:spPr>
          <a:xfrm>
            <a:off x="5003222" y="5262300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属性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176993F-00B3-8459-724A-8E1B12900350}"/>
              </a:ext>
            </a:extLst>
          </p:cNvPr>
          <p:cNvSpPr txBox="1"/>
          <p:nvPr/>
        </p:nvSpPr>
        <p:spPr>
          <a:xfrm>
            <a:off x="4551216" y="5644649"/>
            <a:ext cx="2930237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161E2D"/>
                </a:solidFill>
                <a:latin typeface="Amazon Ember Display"/>
                <a:ea typeface="メイリオ"/>
              </a:rPr>
              <a:t>30~40 </a:t>
            </a:r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代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  <a:p>
            <a:pPr algn="ctr"/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グローバル企業所属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1934479-7F43-71B5-263F-C95B6EF08067}"/>
              </a:ext>
            </a:extLst>
          </p:cNvPr>
          <p:cNvSpPr txBox="1"/>
          <p:nvPr/>
        </p:nvSpPr>
        <p:spPr>
          <a:xfrm>
            <a:off x="3823854" y="3306182"/>
            <a:ext cx="1636567" cy="1200329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・海外チームと円滑な会話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  <a:p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・自身のキャリアアップ</a:t>
            </a:r>
            <a:r>
              <a:rPr kumimoji="1" lang="en-US" altLang="ja-JP" dirty="0" err="1">
                <a:solidFill>
                  <a:srgbClr val="161E2D"/>
                </a:solidFill>
                <a:latin typeface="Amazon Ember Display"/>
                <a:ea typeface="メイリオ"/>
              </a:rPr>
              <a:t>etc</a:t>
            </a:r>
            <a:r>
              <a:rPr kumimoji="1" lang="en-US" altLang="ja-JP" dirty="0">
                <a:solidFill>
                  <a:srgbClr val="161E2D"/>
                </a:solidFill>
                <a:latin typeface="Amazon Ember Display"/>
                <a:ea typeface="メイリオ"/>
              </a:rPr>
              <a:t>…</a:t>
            </a:r>
            <a:endParaRPr kumimoji="1" lang="ja-JP" altLang="en-US" dirty="0">
              <a:solidFill>
                <a:srgbClr val="161E2D"/>
              </a:solidFill>
              <a:latin typeface="Amazon Ember Display"/>
              <a:ea typeface="メイリオ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AD6E948-6770-195C-8EE5-FDE0D4335C4E}"/>
              </a:ext>
            </a:extLst>
          </p:cNvPr>
          <p:cNvSpPr txBox="1"/>
          <p:nvPr/>
        </p:nvSpPr>
        <p:spPr>
          <a:xfrm>
            <a:off x="6716858" y="3245755"/>
            <a:ext cx="2178664" cy="1477328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・アプリで通勤時間や休憩時間に学習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  <a:p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・</a:t>
            </a:r>
            <a:r>
              <a:rPr kumimoji="1" lang="en-US" altLang="ja-JP" dirty="0">
                <a:solidFill>
                  <a:srgbClr val="161E2D"/>
                </a:solidFill>
                <a:latin typeface="Amazon Ember Display"/>
                <a:ea typeface="メイリオ"/>
              </a:rPr>
              <a:t>15~30</a:t>
            </a:r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 分</a:t>
            </a:r>
            <a:r>
              <a:rPr kumimoji="1" lang="en-US" altLang="ja-JP" dirty="0">
                <a:solidFill>
                  <a:srgbClr val="161E2D"/>
                </a:solidFill>
                <a:latin typeface="Amazon Ember Display"/>
                <a:ea typeface="メイリオ"/>
              </a:rPr>
              <a:t>/ </a:t>
            </a:r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日、週末 </a:t>
            </a:r>
            <a:r>
              <a:rPr kumimoji="1" lang="en-US" altLang="ja-JP" dirty="0">
                <a:solidFill>
                  <a:srgbClr val="161E2D"/>
                </a:solidFill>
                <a:latin typeface="Amazon Ember Display"/>
                <a:ea typeface="メイリオ"/>
              </a:rPr>
              <a:t>1 </a:t>
            </a:r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時間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  <a:p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・年間契約</a:t>
            </a:r>
            <a:endParaRPr kumimoji="1" lang="en-US" altLang="ja-JP" dirty="0">
              <a:solidFill>
                <a:srgbClr val="161E2D"/>
              </a:solidFill>
              <a:latin typeface="Amazon Ember Display"/>
              <a:ea typeface="メイリオ"/>
            </a:endParaRP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FC979D6F-D802-7202-40AF-F1D7D7AA8995}"/>
              </a:ext>
            </a:extLst>
          </p:cNvPr>
          <p:cNvSpPr/>
          <p:nvPr/>
        </p:nvSpPr>
        <p:spPr>
          <a:xfrm>
            <a:off x="6773554" y="416196"/>
            <a:ext cx="2931141" cy="829129"/>
          </a:xfrm>
          <a:prstGeom prst="wedgeRoundRectCallout">
            <a:avLst>
              <a:gd name="adj1" fmla="val -72015"/>
              <a:gd name="adj2" fmla="val -45073"/>
              <a:gd name="adj3" fmla="val 16667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rPr>
              <a:t>検討中のサービス名や機能名を書いてください</a:t>
            </a: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8F250B79-6FE1-73CC-78F6-E3AF9F699ADB}"/>
              </a:ext>
            </a:extLst>
          </p:cNvPr>
          <p:cNvSpPr/>
          <p:nvPr/>
        </p:nvSpPr>
        <p:spPr>
          <a:xfrm>
            <a:off x="8738124" y="2247288"/>
            <a:ext cx="3231522" cy="829129"/>
          </a:xfrm>
          <a:prstGeom prst="wedgeRoundRectCallout">
            <a:avLst>
              <a:gd name="adj1" fmla="val -72015"/>
              <a:gd name="adj2" fmla="val -45073"/>
              <a:gd name="adj3" fmla="val 16667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rPr>
              <a:t>顧客の目的・行動・属性を示す一文を記載ください</a:t>
            </a: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D9551EB2-C368-1325-FB77-A16AF8012FAA}"/>
              </a:ext>
            </a:extLst>
          </p:cNvPr>
          <p:cNvSpPr/>
          <p:nvPr/>
        </p:nvSpPr>
        <p:spPr>
          <a:xfrm>
            <a:off x="8239125" y="4565305"/>
            <a:ext cx="3231522" cy="829129"/>
          </a:xfrm>
          <a:prstGeom prst="wedgeRoundRectCallout">
            <a:avLst>
              <a:gd name="adj1" fmla="val -72015"/>
              <a:gd name="adj2" fmla="val -45073"/>
              <a:gd name="adj3" fmla="val 16667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rPr>
              <a:t>目的・行動・属性の </a:t>
            </a:r>
            <a:r>
              <a:rPr kumimoji="1" lang="en-US" altLang="ja-JP" b="1" dirty="0">
                <a:solidFill>
                  <a:schemeClr val="tx1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rPr>
              <a:t>3 </a:t>
            </a:r>
            <a:r>
              <a:rPr kumimoji="1" lang="ja-JP" altLang="en-US" b="1" dirty="0">
                <a:solidFill>
                  <a:schemeClr val="tx1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rPr>
              <a:t>つを具体的に記入してください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0898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F5C7E-A85A-8DE1-802E-E60B90D7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875336F-8D04-E9FD-186B-2590E6A24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0C11141-080A-1E0C-A3D1-890D1E252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OK</a:t>
            </a:r>
            <a:r>
              <a:rPr kumimoji="1" lang="ja-JP" altLang="en-US"/>
              <a:t>例２ </a:t>
            </a:r>
            <a:r>
              <a:rPr kumimoji="1" lang="en-US" altLang="ja-JP" dirty="0"/>
              <a:t>:</a:t>
            </a:r>
            <a:r>
              <a:rPr lang="ja-JP" altLang="en-US"/>
              <a:t>フィットネスアプリサービス</a:t>
            </a:r>
            <a:br>
              <a:rPr lang="ja-JP" altLang="en-US"/>
            </a:b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4BED8C-EFCA-8355-E0D7-94CEDD90A2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11449050" cy="830997"/>
          </a:xfrm>
        </p:spPr>
        <p:txBody>
          <a:bodyPr/>
          <a:lstStyle/>
          <a:p>
            <a:r>
              <a:rPr lang="ja-JP" altLang="en-US"/>
              <a:t>私達は、健康維持とストレス解消のため、自宅や職場での短時間運動を習慣化したい</a:t>
            </a:r>
            <a:r>
              <a:rPr lang="en-US" altLang="ja-JP" dirty="0"/>
              <a:t>20~30</a:t>
            </a:r>
            <a:r>
              <a:rPr lang="ja-JP" altLang="en-US"/>
              <a:t>代の忙しい会社員について考えます。</a:t>
            </a:r>
            <a:endParaRPr lang="ja-JP" altLang="en-US" dirty="0"/>
          </a:p>
        </p:txBody>
      </p:sp>
      <p:pic>
        <p:nvPicPr>
          <p:cNvPr id="25" name="グラフィックス 24" descr="男性 単色塗りつぶし">
            <a:extLst>
              <a:ext uri="{FF2B5EF4-FFF2-40B4-BE49-F238E27FC236}">
                <a16:creationId xmlns:a16="http://schemas.microsoft.com/office/drawing/2014/main" id="{C6113F35-B34C-87F9-644D-6A4EFEEDD0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4642" y="3459784"/>
            <a:ext cx="1359478" cy="1359478"/>
          </a:xfrm>
          <a:prstGeom prst="rect">
            <a:avLst/>
          </a:prstGeom>
        </p:spPr>
      </p:pic>
      <p:sp>
        <p:nvSpPr>
          <p:cNvPr id="26" name="楕円 25">
            <a:extLst>
              <a:ext uri="{FF2B5EF4-FFF2-40B4-BE49-F238E27FC236}">
                <a16:creationId xmlns:a16="http://schemas.microsoft.com/office/drawing/2014/main" id="{BABE93FA-2021-022C-57A2-5FF87E96A4BE}"/>
              </a:ext>
            </a:extLst>
          </p:cNvPr>
          <p:cNvSpPr/>
          <p:nvPr/>
        </p:nvSpPr>
        <p:spPr>
          <a:xfrm>
            <a:off x="3538104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A777FF7-2033-F71B-ECFE-5FA3DF716AD0}"/>
              </a:ext>
            </a:extLst>
          </p:cNvPr>
          <p:cNvSpPr txBox="1"/>
          <p:nvPr/>
        </p:nvSpPr>
        <p:spPr>
          <a:xfrm>
            <a:off x="3938154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目的</a:t>
            </a:r>
            <a:endParaRPr kumimoji="1" lang="en-US" altLang="ja-JP" b="1" dirty="0">
              <a:solidFill>
                <a:srgbClr val="161E2D"/>
              </a:solidFill>
              <a:latin typeface="Amazon Ember Display"/>
              <a:ea typeface="メイリオ"/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EE68A39-012B-63EE-8FC5-0B6C984B6E89}"/>
              </a:ext>
            </a:extLst>
          </p:cNvPr>
          <p:cNvSpPr/>
          <p:nvPr/>
        </p:nvSpPr>
        <p:spPr>
          <a:xfrm>
            <a:off x="5533159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838E25A-8BB9-5CAD-EF22-59B6A84F4B0F}"/>
              </a:ext>
            </a:extLst>
          </p:cNvPr>
          <p:cNvSpPr txBox="1"/>
          <p:nvPr/>
        </p:nvSpPr>
        <p:spPr>
          <a:xfrm>
            <a:off x="6198176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行動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9E130704-FB4D-3251-42DE-9ED73E27E226}"/>
              </a:ext>
            </a:extLst>
          </p:cNvPr>
          <p:cNvSpPr/>
          <p:nvPr/>
        </p:nvSpPr>
        <p:spPr>
          <a:xfrm>
            <a:off x="4535631" y="3410251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03F8565-89CA-C2BA-C814-64F113D871B4}"/>
              </a:ext>
            </a:extLst>
          </p:cNvPr>
          <p:cNvSpPr txBox="1"/>
          <p:nvPr/>
        </p:nvSpPr>
        <p:spPr>
          <a:xfrm>
            <a:off x="5003222" y="5262300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属性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1A44954-5B27-2F91-934C-DBE2CA185468}"/>
              </a:ext>
            </a:extLst>
          </p:cNvPr>
          <p:cNvSpPr txBox="1"/>
          <p:nvPr/>
        </p:nvSpPr>
        <p:spPr>
          <a:xfrm>
            <a:off x="4551216" y="5644649"/>
            <a:ext cx="2930237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ja-JP" dirty="0"/>
              <a:t>20~30</a:t>
            </a:r>
            <a:r>
              <a:rPr lang="ja-JP" altLang="en-US"/>
              <a:t>代</a:t>
            </a:r>
          </a:p>
          <a:p>
            <a:pPr algn="ctr"/>
            <a:r>
              <a:rPr lang="ja-JP" altLang="en-US"/>
              <a:t>デスクワーク中心の会社員</a:t>
            </a:r>
          </a:p>
          <a:p>
            <a:pPr algn="ctr"/>
            <a:r>
              <a:rPr lang="ja-JP" altLang="en-US"/>
              <a:t>運動経験は限定的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7436E47-5352-EA27-73DD-F7350140812A}"/>
              </a:ext>
            </a:extLst>
          </p:cNvPr>
          <p:cNvSpPr txBox="1"/>
          <p:nvPr/>
        </p:nvSpPr>
        <p:spPr>
          <a:xfrm>
            <a:off x="3823854" y="3306182"/>
            <a:ext cx="1636567" cy="1200329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ja-JP" altLang="en-US"/>
              <a:t>健康維持とストレス解消</a:t>
            </a:r>
          </a:p>
          <a:p>
            <a:r>
              <a:rPr lang="ja-JP" altLang="en-US"/>
              <a:t>運動不足の解消</a:t>
            </a:r>
          </a:p>
          <a:p>
            <a:r>
              <a:rPr lang="ja-JP" altLang="en-US"/>
              <a:t>理想の体型維持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D5B4354-86AE-1E73-7406-3D4712A7B7C0}"/>
              </a:ext>
            </a:extLst>
          </p:cNvPr>
          <p:cNvSpPr txBox="1"/>
          <p:nvPr/>
        </p:nvSpPr>
        <p:spPr>
          <a:xfrm>
            <a:off x="6716858" y="3245755"/>
            <a:ext cx="3853606" cy="1200329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ja-JP" altLang="en-US"/>
              <a:t>アプリで自宅・職場での運動を実践</a:t>
            </a:r>
          </a:p>
          <a:p>
            <a:r>
              <a:rPr lang="ja-JP" altLang="en-US"/>
              <a:t>朝</a:t>
            </a:r>
            <a:r>
              <a:rPr lang="en-US" altLang="ja-JP" dirty="0"/>
              <a:t>15</a:t>
            </a:r>
            <a:r>
              <a:rPr lang="ja-JP" altLang="en-US"/>
              <a:t>分、昼休み</a:t>
            </a:r>
            <a:r>
              <a:rPr lang="en-US" altLang="ja-JP" dirty="0"/>
              <a:t>10</a:t>
            </a:r>
            <a:r>
              <a:rPr lang="ja-JP" altLang="en-US"/>
              <a:t>分の運動</a:t>
            </a:r>
          </a:p>
          <a:p>
            <a:r>
              <a:rPr lang="ja-JP" altLang="en-US"/>
              <a:t>月額</a:t>
            </a:r>
            <a:r>
              <a:rPr lang="en-US" altLang="ja-JP" dirty="0"/>
              <a:t>1,500</a:t>
            </a:r>
            <a:r>
              <a:rPr lang="ja-JP" altLang="en-US"/>
              <a:t>円のサブスクリプション</a:t>
            </a:r>
          </a:p>
          <a:p>
            <a:r>
              <a:rPr lang="ja-JP" altLang="en-US"/>
              <a:t>継続利用</a:t>
            </a:r>
            <a:r>
              <a:rPr lang="en-US" altLang="ja-JP" dirty="0"/>
              <a:t>6</a:t>
            </a:r>
            <a:r>
              <a:rPr lang="ja-JP" altLang="en-US"/>
              <a:t>ヶ月以上</a:t>
            </a:r>
          </a:p>
        </p:txBody>
      </p:sp>
    </p:spTree>
    <p:extLst>
      <p:ext uri="{BB962C8B-B14F-4D97-AF65-F5344CB8AC3E}">
        <p14:creationId xmlns:p14="http://schemas.microsoft.com/office/powerpoint/2010/main" val="322493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82326-BDD9-BDDC-A45C-59E90C51B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F8E0CFB-8766-366C-B29A-0CA70A6A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74A3D65C-3854-F0AB-2AC6-683250AEE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OK</a:t>
            </a:r>
            <a:r>
              <a:rPr kumimoji="1" lang="ja-JP" altLang="en-US"/>
              <a:t>例３ </a:t>
            </a:r>
            <a:r>
              <a:rPr kumimoji="1" lang="en-US" altLang="ja-JP" dirty="0"/>
              <a:t>:</a:t>
            </a:r>
            <a:r>
              <a:rPr lang="en-US" altLang="ja-JP" b="0" dirty="0"/>
              <a:t> AI</a:t>
            </a:r>
            <a:r>
              <a:rPr lang="ja-JP" altLang="en-US" b="0"/>
              <a:t>家計分析アプリ</a:t>
            </a:r>
            <a:br>
              <a:rPr lang="ja-JP" altLang="en-US"/>
            </a:b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6D113-D7A8-6A5E-D86F-8B7B0CE7B7E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11449050" cy="830997"/>
          </a:xfrm>
        </p:spPr>
        <p:txBody>
          <a:bodyPr/>
          <a:lstStyle/>
          <a:p>
            <a:r>
              <a:rPr lang="ja-JP" altLang="en-US"/>
              <a:t>私達は、将来の住宅購入や子育て資金のため、効率的な家計管理と貯蓄を実現したい</a:t>
            </a:r>
            <a:r>
              <a:rPr lang="en-US" altLang="ja-JP" dirty="0"/>
              <a:t>20~40</a:t>
            </a:r>
            <a:r>
              <a:rPr lang="ja-JP" altLang="en-US"/>
              <a:t>代の共働き夫婦について考えます。</a:t>
            </a:r>
            <a:endParaRPr lang="ja-JP" altLang="en-US" dirty="0"/>
          </a:p>
        </p:txBody>
      </p:sp>
      <p:pic>
        <p:nvPicPr>
          <p:cNvPr id="25" name="グラフィックス 24" descr="男性 単色塗りつぶし">
            <a:extLst>
              <a:ext uri="{FF2B5EF4-FFF2-40B4-BE49-F238E27FC236}">
                <a16:creationId xmlns:a16="http://schemas.microsoft.com/office/drawing/2014/main" id="{D33AE6CF-234E-8FC0-D0FF-25928BBE3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4642" y="3459784"/>
            <a:ext cx="1359478" cy="1359478"/>
          </a:xfrm>
          <a:prstGeom prst="rect">
            <a:avLst/>
          </a:prstGeom>
        </p:spPr>
      </p:pic>
      <p:sp>
        <p:nvSpPr>
          <p:cNvPr id="26" name="楕円 25">
            <a:extLst>
              <a:ext uri="{FF2B5EF4-FFF2-40B4-BE49-F238E27FC236}">
                <a16:creationId xmlns:a16="http://schemas.microsoft.com/office/drawing/2014/main" id="{3AF364DA-DCAB-E722-9540-E19C364EAD6B}"/>
              </a:ext>
            </a:extLst>
          </p:cNvPr>
          <p:cNvSpPr/>
          <p:nvPr/>
        </p:nvSpPr>
        <p:spPr>
          <a:xfrm>
            <a:off x="3538104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341D434-327C-B19B-7D98-137403657A1A}"/>
              </a:ext>
            </a:extLst>
          </p:cNvPr>
          <p:cNvSpPr txBox="1"/>
          <p:nvPr/>
        </p:nvSpPr>
        <p:spPr>
          <a:xfrm>
            <a:off x="3938154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目的</a:t>
            </a:r>
            <a:endParaRPr kumimoji="1" lang="en-US" altLang="ja-JP" b="1" dirty="0">
              <a:solidFill>
                <a:srgbClr val="161E2D"/>
              </a:solidFill>
              <a:latin typeface="Amazon Ember Display"/>
              <a:ea typeface="メイリオ"/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35F75D4C-2788-E69B-5CC8-AC38EFF3910A}"/>
              </a:ext>
            </a:extLst>
          </p:cNvPr>
          <p:cNvSpPr/>
          <p:nvPr/>
        </p:nvSpPr>
        <p:spPr>
          <a:xfrm>
            <a:off x="5533159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3430894-0DB9-17D4-F1BF-D47B01C271BE}"/>
              </a:ext>
            </a:extLst>
          </p:cNvPr>
          <p:cNvSpPr txBox="1"/>
          <p:nvPr/>
        </p:nvSpPr>
        <p:spPr>
          <a:xfrm>
            <a:off x="6198176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行動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6DC93EA5-040A-CFB2-9486-3F1E8E38D1DA}"/>
              </a:ext>
            </a:extLst>
          </p:cNvPr>
          <p:cNvSpPr/>
          <p:nvPr/>
        </p:nvSpPr>
        <p:spPr>
          <a:xfrm>
            <a:off x="4535631" y="3410251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1ABACAA-9CC1-6446-CF4B-2BC549496F52}"/>
              </a:ext>
            </a:extLst>
          </p:cNvPr>
          <p:cNvSpPr txBox="1"/>
          <p:nvPr/>
        </p:nvSpPr>
        <p:spPr>
          <a:xfrm>
            <a:off x="5003222" y="5262300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属性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80B0BED-433B-4561-C5C9-3638EABEEE54}"/>
              </a:ext>
            </a:extLst>
          </p:cNvPr>
          <p:cNvSpPr txBox="1"/>
          <p:nvPr/>
        </p:nvSpPr>
        <p:spPr>
          <a:xfrm>
            <a:off x="4551216" y="5644649"/>
            <a:ext cx="2930237" cy="14773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ja-JP" dirty="0"/>
              <a:t>20~40</a:t>
            </a:r>
            <a:r>
              <a:rPr lang="ja-JP" altLang="en-US"/>
              <a:t>代</a:t>
            </a:r>
          </a:p>
          <a:p>
            <a:pPr algn="ctr"/>
            <a:r>
              <a:rPr lang="ja-JP" altLang="en-US"/>
              <a:t>共働き夫婦</a:t>
            </a:r>
          </a:p>
          <a:p>
            <a:pPr algn="ctr"/>
            <a:r>
              <a:rPr lang="ja-JP" altLang="en-US"/>
              <a:t>世帯年収</a:t>
            </a:r>
            <a:r>
              <a:rPr lang="en-US" altLang="ja-JP" dirty="0"/>
              <a:t>600-900</a:t>
            </a:r>
            <a:r>
              <a:rPr lang="ja-JP" altLang="en-US"/>
              <a:t>万円</a:t>
            </a:r>
          </a:p>
          <a:p>
            <a:pPr algn="ctr"/>
            <a:br>
              <a:rPr lang="ja-JP" altLang="en-US"/>
            </a:br>
            <a:endParaRPr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6754C48-892C-5EB8-7CD9-208388FDCC7A}"/>
              </a:ext>
            </a:extLst>
          </p:cNvPr>
          <p:cNvSpPr txBox="1"/>
          <p:nvPr/>
        </p:nvSpPr>
        <p:spPr>
          <a:xfrm>
            <a:off x="3194304" y="3306182"/>
            <a:ext cx="2266117" cy="1477328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ja-JP" altLang="en-US"/>
              <a:t>将来の大きな支出への準備</a:t>
            </a:r>
          </a:p>
          <a:p>
            <a:r>
              <a:rPr lang="ja-JP" altLang="en-US"/>
              <a:t>効率的な貯蓄と資産形成</a:t>
            </a:r>
          </a:p>
          <a:p>
            <a:r>
              <a:rPr lang="ja-JP" altLang="en-US"/>
              <a:t>家計の見える化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2BAA329-C28D-5C47-2344-C5E00645F582}"/>
              </a:ext>
            </a:extLst>
          </p:cNvPr>
          <p:cNvSpPr txBox="1"/>
          <p:nvPr/>
        </p:nvSpPr>
        <p:spPr>
          <a:xfrm>
            <a:off x="6716858" y="3245755"/>
            <a:ext cx="3853606" cy="1200329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ja-JP" altLang="en-US"/>
              <a:t>銀行・クレカとの自動連携で記録</a:t>
            </a:r>
          </a:p>
          <a:p>
            <a:r>
              <a:rPr lang="ja-JP" altLang="en-US"/>
              <a:t>週</a:t>
            </a:r>
            <a:r>
              <a:rPr lang="en-US" altLang="ja-JP" dirty="0"/>
              <a:t>1</a:t>
            </a:r>
            <a:r>
              <a:rPr lang="ja-JP" altLang="en-US"/>
              <a:t>回の家計レビュー</a:t>
            </a:r>
          </a:p>
          <a:p>
            <a:r>
              <a:rPr lang="ja-JP" altLang="en-US"/>
              <a:t>年額</a:t>
            </a:r>
            <a:r>
              <a:rPr lang="en-US" altLang="ja-JP" dirty="0"/>
              <a:t>5,000</a:t>
            </a:r>
            <a:r>
              <a:rPr lang="ja-JP" altLang="en-US"/>
              <a:t>円のプレミアムプラン</a:t>
            </a:r>
          </a:p>
          <a:p>
            <a:r>
              <a:rPr lang="ja-JP" altLang="en-US"/>
              <a:t>目標達成まで</a:t>
            </a:r>
            <a:r>
              <a:rPr lang="en-US" altLang="ja-JP" dirty="0"/>
              <a:t>2-3</a:t>
            </a:r>
            <a:r>
              <a:rPr lang="ja-JP" altLang="en-US"/>
              <a:t>年継続</a:t>
            </a:r>
          </a:p>
        </p:txBody>
      </p:sp>
    </p:spTree>
    <p:extLst>
      <p:ext uri="{BB962C8B-B14F-4D97-AF65-F5344CB8AC3E}">
        <p14:creationId xmlns:p14="http://schemas.microsoft.com/office/powerpoint/2010/main" val="4085558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5B2EB-DE95-5972-1C66-6693A8FD1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7978481-BBAF-9AB3-4D25-ABE167864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2F0785D-A00C-9717-FB7E-7C3A5952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OK</a:t>
            </a:r>
            <a:r>
              <a:rPr kumimoji="1" lang="ja-JP" altLang="en-US"/>
              <a:t>例４ </a:t>
            </a:r>
            <a:r>
              <a:rPr kumimoji="1" lang="en-US" altLang="ja-JP" dirty="0"/>
              <a:t>:</a:t>
            </a:r>
            <a:r>
              <a:rPr lang="ja-JP" altLang="en-US"/>
              <a:t>子供向けオンライン学習サービス</a:t>
            </a:r>
            <a:br>
              <a:rPr lang="ja-JP" altLang="en-US"/>
            </a:b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13FCEAF-7264-DE7F-79B8-A7BBE3B553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11449050" cy="830997"/>
          </a:xfrm>
        </p:spPr>
        <p:txBody>
          <a:bodyPr/>
          <a:lstStyle/>
          <a:p>
            <a:r>
              <a:rPr lang="ja-JP" altLang="en-US"/>
              <a:t>私達は、子供の学習意欲向上と基礎学力定着のため、楽しみながら継続的な学習習慣を身につけさせたい</a:t>
            </a:r>
            <a:r>
              <a:rPr lang="en-US" altLang="ja-JP" dirty="0"/>
              <a:t>30~40</a:t>
            </a:r>
            <a:r>
              <a:rPr lang="ja-JP" altLang="en-US"/>
              <a:t>代の教育熱心な親について考えます。</a:t>
            </a:r>
            <a:endParaRPr lang="ja-JP" altLang="en-US" dirty="0"/>
          </a:p>
        </p:txBody>
      </p:sp>
      <p:pic>
        <p:nvPicPr>
          <p:cNvPr id="25" name="グラフィックス 24" descr="男性 単色塗りつぶし">
            <a:extLst>
              <a:ext uri="{FF2B5EF4-FFF2-40B4-BE49-F238E27FC236}">
                <a16:creationId xmlns:a16="http://schemas.microsoft.com/office/drawing/2014/main" id="{C0E15779-9514-20D3-BD2D-1A034179AA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4642" y="3459784"/>
            <a:ext cx="1359478" cy="1359478"/>
          </a:xfrm>
          <a:prstGeom prst="rect">
            <a:avLst/>
          </a:prstGeom>
        </p:spPr>
      </p:pic>
      <p:sp>
        <p:nvSpPr>
          <p:cNvPr id="26" name="楕円 25">
            <a:extLst>
              <a:ext uri="{FF2B5EF4-FFF2-40B4-BE49-F238E27FC236}">
                <a16:creationId xmlns:a16="http://schemas.microsoft.com/office/drawing/2014/main" id="{E73895FA-7593-7C9D-5927-BDE09B9BF7B4}"/>
              </a:ext>
            </a:extLst>
          </p:cNvPr>
          <p:cNvSpPr/>
          <p:nvPr/>
        </p:nvSpPr>
        <p:spPr>
          <a:xfrm>
            <a:off x="3538104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E2DF230-2B4C-BF4E-C793-DAC9242405AA}"/>
              </a:ext>
            </a:extLst>
          </p:cNvPr>
          <p:cNvSpPr txBox="1"/>
          <p:nvPr/>
        </p:nvSpPr>
        <p:spPr>
          <a:xfrm>
            <a:off x="3938154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目的</a:t>
            </a:r>
            <a:endParaRPr kumimoji="1" lang="en-US" altLang="ja-JP" b="1" dirty="0">
              <a:solidFill>
                <a:srgbClr val="161E2D"/>
              </a:solidFill>
              <a:latin typeface="Amazon Ember Display"/>
              <a:ea typeface="メイリオ"/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B8A94B02-11EF-D708-E102-47BBA72E281B}"/>
              </a:ext>
            </a:extLst>
          </p:cNvPr>
          <p:cNvSpPr/>
          <p:nvPr/>
        </p:nvSpPr>
        <p:spPr>
          <a:xfrm>
            <a:off x="5533159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1673B1F-C036-CC6B-3CA6-3DE9343960A0}"/>
              </a:ext>
            </a:extLst>
          </p:cNvPr>
          <p:cNvSpPr txBox="1"/>
          <p:nvPr/>
        </p:nvSpPr>
        <p:spPr>
          <a:xfrm>
            <a:off x="6198176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行動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22941414-007F-8818-6CC4-AFAE961EC8A2}"/>
              </a:ext>
            </a:extLst>
          </p:cNvPr>
          <p:cNvSpPr/>
          <p:nvPr/>
        </p:nvSpPr>
        <p:spPr>
          <a:xfrm>
            <a:off x="4535631" y="3410251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6018F166-1DF5-08D9-8A89-C62A331B62D8}"/>
              </a:ext>
            </a:extLst>
          </p:cNvPr>
          <p:cNvSpPr txBox="1"/>
          <p:nvPr/>
        </p:nvSpPr>
        <p:spPr>
          <a:xfrm>
            <a:off x="5003222" y="5262300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属性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EF3677C-560D-B9C2-CC74-4416E93724F3}"/>
              </a:ext>
            </a:extLst>
          </p:cNvPr>
          <p:cNvSpPr txBox="1"/>
          <p:nvPr/>
        </p:nvSpPr>
        <p:spPr>
          <a:xfrm>
            <a:off x="4551216" y="5644649"/>
            <a:ext cx="2930237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ja-JP" dirty="0"/>
              <a:t>30~40</a:t>
            </a:r>
            <a:r>
              <a:rPr lang="ja-JP" altLang="en-US"/>
              <a:t>代の親</a:t>
            </a:r>
          </a:p>
          <a:p>
            <a:pPr algn="ctr"/>
            <a:r>
              <a:rPr lang="ja-JP" altLang="en-US"/>
              <a:t>小学生の子供を持つ</a:t>
            </a:r>
          </a:p>
          <a:p>
            <a:pPr algn="ctr"/>
            <a:r>
              <a:rPr lang="ja-JP" altLang="en-US"/>
              <a:t>教育への関心が高い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AA54C9C-A560-D3FF-01AB-EB422334EE9C}"/>
              </a:ext>
            </a:extLst>
          </p:cNvPr>
          <p:cNvSpPr txBox="1"/>
          <p:nvPr/>
        </p:nvSpPr>
        <p:spPr>
          <a:xfrm>
            <a:off x="2109216" y="3306182"/>
            <a:ext cx="3351205" cy="923330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ja-JP" altLang="en-US"/>
              <a:t>子供の学習意欲と基礎学力向上</a:t>
            </a:r>
          </a:p>
          <a:p>
            <a:r>
              <a:rPr lang="ja-JP" altLang="en-US"/>
              <a:t>継続的な学習習慣の形成</a:t>
            </a:r>
          </a:p>
          <a:p>
            <a:r>
              <a:rPr lang="ja-JP" altLang="en-US"/>
              <a:t>親子のコミュニケーション促進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67CC92A-2B34-4E55-E815-9275C1439A12}"/>
              </a:ext>
            </a:extLst>
          </p:cNvPr>
          <p:cNvSpPr txBox="1"/>
          <p:nvPr/>
        </p:nvSpPr>
        <p:spPr>
          <a:xfrm>
            <a:off x="6716858" y="3245755"/>
            <a:ext cx="3853606" cy="1200329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ja-JP" altLang="en-US"/>
              <a:t>平日</a:t>
            </a:r>
            <a:r>
              <a:rPr lang="en-US" altLang="ja-JP" dirty="0"/>
              <a:t>30</a:t>
            </a:r>
            <a:r>
              <a:rPr lang="ja-JP" altLang="en-US"/>
              <a:t>分、休日</a:t>
            </a:r>
            <a:r>
              <a:rPr lang="en-US" altLang="ja-JP" dirty="0"/>
              <a:t>1</a:t>
            </a:r>
            <a:r>
              <a:rPr lang="ja-JP" altLang="en-US"/>
              <a:t>時間の学習サポート</a:t>
            </a:r>
          </a:p>
          <a:p>
            <a:r>
              <a:rPr lang="ja-JP" altLang="en-US"/>
              <a:t>月額</a:t>
            </a:r>
            <a:r>
              <a:rPr lang="en-US" altLang="ja-JP" dirty="0"/>
              <a:t>3,000</a:t>
            </a:r>
            <a:r>
              <a:rPr lang="ja-JP" altLang="en-US"/>
              <a:t>円の継続課金</a:t>
            </a:r>
          </a:p>
          <a:p>
            <a:r>
              <a:rPr lang="ja-JP" altLang="en-US"/>
              <a:t>子供の進捗を週次でチェック</a:t>
            </a:r>
          </a:p>
          <a:p>
            <a:r>
              <a:rPr lang="en-US" altLang="ja-JP" dirty="0"/>
              <a:t>1</a:t>
            </a:r>
            <a:r>
              <a:rPr lang="ja-JP" altLang="en-US"/>
              <a:t>年以上の長期利用</a:t>
            </a:r>
          </a:p>
        </p:txBody>
      </p:sp>
    </p:spTree>
    <p:extLst>
      <p:ext uri="{BB962C8B-B14F-4D97-AF65-F5344CB8AC3E}">
        <p14:creationId xmlns:p14="http://schemas.microsoft.com/office/powerpoint/2010/main" val="24784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FDD9-1966-CD15-EE61-1FDBAAA89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FF177D9-2624-1EA2-76DD-FC5122603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86097AA-0323-B374-4D2D-6AC4073D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OK</a:t>
            </a:r>
            <a:r>
              <a:rPr kumimoji="1" lang="ja-JP" altLang="en-US"/>
              <a:t>例５ </a:t>
            </a:r>
            <a:r>
              <a:rPr kumimoji="1" lang="en-US" altLang="ja-JP" dirty="0"/>
              <a:t>:</a:t>
            </a:r>
            <a:r>
              <a:rPr lang="ja-JP" altLang="en-US"/>
              <a:t> 中小企業向けクラウド会計サービス</a:t>
            </a:r>
            <a:br>
              <a:rPr lang="ja-JP" altLang="en-US"/>
            </a:br>
            <a:br>
              <a:rPr lang="ja-JP" altLang="en-US"/>
            </a:b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A9CE89-BC0D-B8D0-F934-DC9807F2F1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11449050" cy="830997"/>
          </a:xfrm>
        </p:spPr>
        <p:txBody>
          <a:bodyPr/>
          <a:lstStyle/>
          <a:p>
            <a:r>
              <a:rPr lang="ja-JP" altLang="en-US"/>
              <a:t>私達は、経理業務の効率化と正確な財務状況把握のため、簡単操作で日々の帳簿管理を行いたい従業員</a:t>
            </a:r>
            <a:r>
              <a:rPr lang="en-US" altLang="ja-JP" dirty="0"/>
              <a:t>10-50</a:t>
            </a:r>
            <a:r>
              <a:rPr lang="ja-JP" altLang="en-US"/>
              <a:t>名の中小企業経営者について考えます。</a:t>
            </a:r>
            <a:endParaRPr lang="ja-JP" altLang="en-US" dirty="0"/>
          </a:p>
        </p:txBody>
      </p:sp>
      <p:pic>
        <p:nvPicPr>
          <p:cNvPr id="25" name="グラフィックス 24" descr="男性 単色塗りつぶし">
            <a:extLst>
              <a:ext uri="{FF2B5EF4-FFF2-40B4-BE49-F238E27FC236}">
                <a16:creationId xmlns:a16="http://schemas.microsoft.com/office/drawing/2014/main" id="{FA85C414-0A5B-E275-7EEC-ECB5C3068A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4642" y="3459784"/>
            <a:ext cx="1359478" cy="1359478"/>
          </a:xfrm>
          <a:prstGeom prst="rect">
            <a:avLst/>
          </a:prstGeom>
        </p:spPr>
      </p:pic>
      <p:sp>
        <p:nvSpPr>
          <p:cNvPr id="26" name="楕円 25">
            <a:extLst>
              <a:ext uri="{FF2B5EF4-FFF2-40B4-BE49-F238E27FC236}">
                <a16:creationId xmlns:a16="http://schemas.microsoft.com/office/drawing/2014/main" id="{DAD038EE-FE84-AC79-CAEC-6E9589CE61F6}"/>
              </a:ext>
            </a:extLst>
          </p:cNvPr>
          <p:cNvSpPr/>
          <p:nvPr/>
        </p:nvSpPr>
        <p:spPr>
          <a:xfrm>
            <a:off x="3538104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B76B0CD-8B04-73BA-8761-9AAB9FAB086B}"/>
              </a:ext>
            </a:extLst>
          </p:cNvPr>
          <p:cNvSpPr txBox="1"/>
          <p:nvPr/>
        </p:nvSpPr>
        <p:spPr>
          <a:xfrm>
            <a:off x="3938154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目的</a:t>
            </a:r>
            <a:endParaRPr kumimoji="1" lang="en-US" altLang="ja-JP" b="1" dirty="0">
              <a:solidFill>
                <a:srgbClr val="161E2D"/>
              </a:solidFill>
              <a:latin typeface="Amazon Ember Display"/>
              <a:ea typeface="メイリオ"/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35C29206-883E-BD4A-D273-E356970211E9}"/>
              </a:ext>
            </a:extLst>
          </p:cNvPr>
          <p:cNvSpPr/>
          <p:nvPr/>
        </p:nvSpPr>
        <p:spPr>
          <a:xfrm>
            <a:off x="5533159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F1B74B3-B0AC-58D9-3B84-CF0E46E6A166}"/>
              </a:ext>
            </a:extLst>
          </p:cNvPr>
          <p:cNvSpPr txBox="1"/>
          <p:nvPr/>
        </p:nvSpPr>
        <p:spPr>
          <a:xfrm>
            <a:off x="6198176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行動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64B32DA4-6D9B-4BD6-8C28-3DD512D00FEF}"/>
              </a:ext>
            </a:extLst>
          </p:cNvPr>
          <p:cNvSpPr/>
          <p:nvPr/>
        </p:nvSpPr>
        <p:spPr>
          <a:xfrm>
            <a:off x="4535631" y="3410251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D640049-69D7-9478-CD91-ADC09BC4E627}"/>
              </a:ext>
            </a:extLst>
          </p:cNvPr>
          <p:cNvSpPr txBox="1"/>
          <p:nvPr/>
        </p:nvSpPr>
        <p:spPr>
          <a:xfrm>
            <a:off x="5003222" y="5262300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属性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25C9468-E405-27A1-AEEA-22F1B5B800B8}"/>
              </a:ext>
            </a:extLst>
          </p:cNvPr>
          <p:cNvSpPr txBox="1"/>
          <p:nvPr/>
        </p:nvSpPr>
        <p:spPr>
          <a:xfrm>
            <a:off x="4551216" y="5644649"/>
            <a:ext cx="2930237" cy="14773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ja-JP" altLang="en-US"/>
              <a:t>従業員</a:t>
            </a:r>
            <a:r>
              <a:rPr lang="en-US" altLang="ja-JP" dirty="0"/>
              <a:t>10-50</a:t>
            </a:r>
            <a:r>
              <a:rPr lang="ja-JP" altLang="en-US"/>
              <a:t>名の中小企業</a:t>
            </a:r>
          </a:p>
          <a:p>
            <a:pPr algn="ctr"/>
            <a:r>
              <a:rPr lang="ja-JP" altLang="en-US"/>
              <a:t>経営者または経理責任者</a:t>
            </a:r>
          </a:p>
          <a:p>
            <a:pPr algn="ctr"/>
            <a:r>
              <a:rPr lang="en-US" altLang="ja-JP" dirty="0"/>
              <a:t>IT</a:t>
            </a:r>
            <a:r>
              <a:rPr lang="ja-JP" altLang="en-US"/>
              <a:t>リテラシーは中程度</a:t>
            </a:r>
          </a:p>
          <a:p>
            <a:pPr algn="ctr"/>
            <a:br>
              <a:rPr lang="ja-JP" altLang="en-US"/>
            </a:br>
            <a:endParaRPr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DFF454B-38F1-08FA-0B40-5BC633C934E2}"/>
              </a:ext>
            </a:extLst>
          </p:cNvPr>
          <p:cNvSpPr txBox="1"/>
          <p:nvPr/>
        </p:nvSpPr>
        <p:spPr>
          <a:xfrm>
            <a:off x="2109216" y="3306182"/>
            <a:ext cx="3351205" cy="923330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ja-JP" altLang="en-US"/>
              <a:t>経理業務の効率化と自動化</a:t>
            </a:r>
          </a:p>
          <a:p>
            <a:r>
              <a:rPr lang="ja-JP" altLang="en-US"/>
              <a:t>リアルタイムな財務状況把握</a:t>
            </a:r>
          </a:p>
          <a:p>
            <a:r>
              <a:rPr lang="ja-JP" altLang="en-US"/>
              <a:t>税務申告の簡素化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2A8C01A-D3FC-DF57-7E17-2C4261B7A1E4}"/>
              </a:ext>
            </a:extLst>
          </p:cNvPr>
          <p:cNvSpPr txBox="1"/>
          <p:nvPr/>
        </p:nvSpPr>
        <p:spPr>
          <a:xfrm>
            <a:off x="6716858" y="3245755"/>
            <a:ext cx="3853606" cy="1754326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ja-JP" altLang="en-US"/>
              <a:t>毎日の取引データ入力・確認</a:t>
            </a:r>
          </a:p>
          <a:p>
            <a:r>
              <a:rPr lang="ja-JP" altLang="en-US"/>
              <a:t>月次での財務レポート確認</a:t>
            </a:r>
          </a:p>
          <a:p>
            <a:r>
              <a:rPr lang="ja-JP" altLang="en-US"/>
              <a:t>月額</a:t>
            </a:r>
            <a:r>
              <a:rPr lang="en-US" altLang="ja-JP" dirty="0"/>
              <a:t>10,000</a:t>
            </a:r>
            <a:r>
              <a:rPr lang="ja-JP" altLang="en-US"/>
              <a:t>円～の利用料</a:t>
            </a:r>
          </a:p>
          <a:p>
            <a:r>
              <a:rPr lang="ja-JP" altLang="en-US"/>
              <a:t>導入から</a:t>
            </a:r>
            <a:r>
              <a:rPr lang="en-US" altLang="ja-JP" dirty="0"/>
              <a:t>3</a:t>
            </a:r>
            <a:r>
              <a:rPr lang="ja-JP" altLang="en-US"/>
              <a:t>年以上の継続利用</a:t>
            </a:r>
          </a:p>
          <a:p>
            <a:br>
              <a:rPr lang="ja-JP" altLang="en-US"/>
            </a:b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7484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97A21-2245-65BE-E811-9C4B295D9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503ACA2-3BB7-4BFC-D83E-BFC2B8DDE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7A5CA7-4467-DA41-2C63-EF45EE37B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NG</a:t>
            </a:r>
            <a:r>
              <a:rPr kumimoji="1" lang="ja-JP" altLang="en-US"/>
              <a:t>例１ </a:t>
            </a:r>
            <a:r>
              <a:rPr kumimoji="1" lang="en-US" altLang="ja-JP" dirty="0"/>
              <a:t>:</a:t>
            </a:r>
            <a:r>
              <a:rPr lang="ja-JP" altLang="en-US" b="0"/>
              <a:t>健康管理サービス</a:t>
            </a:r>
            <a:br>
              <a:rPr lang="ja-JP" altLang="en-US"/>
            </a:br>
            <a:br>
              <a:rPr lang="ja-JP" altLang="en-US"/>
            </a:b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A3EDBC-B945-56B1-6619-DD1419BD8F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11449050" cy="461665"/>
          </a:xfrm>
        </p:spPr>
        <p:txBody>
          <a:bodyPr/>
          <a:lstStyle/>
          <a:p>
            <a:r>
              <a:rPr lang="ja-JP" altLang="en-US"/>
              <a:t>私達は、健康になりたい</a:t>
            </a:r>
            <a:r>
              <a:rPr lang="en-US" altLang="ja-JP" dirty="0"/>
              <a:t>30</a:t>
            </a:r>
            <a:r>
              <a:rPr lang="ja-JP" altLang="en-US"/>
              <a:t>代の会社員について考えます。</a:t>
            </a:r>
            <a:endParaRPr lang="ja-JP" altLang="en-US" dirty="0"/>
          </a:p>
        </p:txBody>
      </p:sp>
      <p:pic>
        <p:nvPicPr>
          <p:cNvPr id="25" name="グラフィックス 24" descr="男性 単色塗りつぶし">
            <a:extLst>
              <a:ext uri="{FF2B5EF4-FFF2-40B4-BE49-F238E27FC236}">
                <a16:creationId xmlns:a16="http://schemas.microsoft.com/office/drawing/2014/main" id="{F5399677-C112-543A-9EBD-D289D1345B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4642" y="3459784"/>
            <a:ext cx="1359478" cy="1359478"/>
          </a:xfrm>
          <a:prstGeom prst="rect">
            <a:avLst/>
          </a:prstGeom>
        </p:spPr>
      </p:pic>
      <p:sp>
        <p:nvSpPr>
          <p:cNvPr id="26" name="楕円 25">
            <a:extLst>
              <a:ext uri="{FF2B5EF4-FFF2-40B4-BE49-F238E27FC236}">
                <a16:creationId xmlns:a16="http://schemas.microsoft.com/office/drawing/2014/main" id="{91CB5238-D636-3E2B-5408-441AC0FB82B8}"/>
              </a:ext>
            </a:extLst>
          </p:cNvPr>
          <p:cNvSpPr/>
          <p:nvPr/>
        </p:nvSpPr>
        <p:spPr>
          <a:xfrm>
            <a:off x="3538104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0F3EAB4-1864-4C21-15F1-E0B65DF7EE24}"/>
              </a:ext>
            </a:extLst>
          </p:cNvPr>
          <p:cNvSpPr txBox="1"/>
          <p:nvPr/>
        </p:nvSpPr>
        <p:spPr>
          <a:xfrm>
            <a:off x="3938154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目的</a:t>
            </a:r>
            <a:endParaRPr kumimoji="1" lang="en-US" altLang="ja-JP" b="1" dirty="0">
              <a:solidFill>
                <a:srgbClr val="161E2D"/>
              </a:solidFill>
              <a:latin typeface="Amazon Ember Display"/>
              <a:ea typeface="メイリオ"/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4FFB7D31-C3F8-6FBD-50DD-09CDF7F5BA5F}"/>
              </a:ext>
            </a:extLst>
          </p:cNvPr>
          <p:cNvSpPr/>
          <p:nvPr/>
        </p:nvSpPr>
        <p:spPr>
          <a:xfrm>
            <a:off x="5533159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3A19FE0-27FC-E508-23CB-25172A3A68C5}"/>
              </a:ext>
            </a:extLst>
          </p:cNvPr>
          <p:cNvSpPr txBox="1"/>
          <p:nvPr/>
        </p:nvSpPr>
        <p:spPr>
          <a:xfrm>
            <a:off x="6198176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行動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730B6244-7C56-B404-D7C8-F32BF3151013}"/>
              </a:ext>
            </a:extLst>
          </p:cNvPr>
          <p:cNvSpPr/>
          <p:nvPr/>
        </p:nvSpPr>
        <p:spPr>
          <a:xfrm>
            <a:off x="4535631" y="3410251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CE968DF9-FEE8-9F6A-DB41-EBED968CD65C}"/>
              </a:ext>
            </a:extLst>
          </p:cNvPr>
          <p:cNvSpPr txBox="1"/>
          <p:nvPr/>
        </p:nvSpPr>
        <p:spPr>
          <a:xfrm>
            <a:off x="5003222" y="5262300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属性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1DDDBE4-50C5-0766-61F5-336DD7D2DDD9}"/>
              </a:ext>
            </a:extLst>
          </p:cNvPr>
          <p:cNvSpPr txBox="1"/>
          <p:nvPr/>
        </p:nvSpPr>
        <p:spPr>
          <a:xfrm>
            <a:off x="4551216" y="5644649"/>
            <a:ext cx="293023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ja-JP" dirty="0"/>
              <a:t>30</a:t>
            </a:r>
            <a:r>
              <a:rPr lang="ja-JP" altLang="en-US"/>
              <a:t>代会社員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9B40B0F-860E-F996-13E6-8E293BB8EB41}"/>
              </a:ext>
            </a:extLst>
          </p:cNvPr>
          <p:cNvSpPr txBox="1"/>
          <p:nvPr/>
        </p:nvSpPr>
        <p:spPr>
          <a:xfrm>
            <a:off x="3538103" y="3306182"/>
            <a:ext cx="1922318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ja-JP" altLang="en-US"/>
              <a:t>健康になりたい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CE86DB6-67DE-0FEA-F5CF-8616E45E2962}"/>
              </a:ext>
            </a:extLst>
          </p:cNvPr>
          <p:cNvSpPr txBox="1"/>
          <p:nvPr/>
        </p:nvSpPr>
        <p:spPr>
          <a:xfrm>
            <a:off x="6716858" y="3245755"/>
            <a:ext cx="3853606" cy="923330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ja-JP" altLang="en-US"/>
              <a:t>たまにアプリを使う</a:t>
            </a:r>
          </a:p>
          <a:p>
            <a:r>
              <a:rPr lang="ja-JP" altLang="en-US"/>
              <a:t>時々お金を払う</a:t>
            </a:r>
          </a:p>
          <a:p>
            <a:r>
              <a:rPr lang="ja-JP" altLang="en-US"/>
              <a:t>気が向いた時に利用</a:t>
            </a:r>
          </a:p>
        </p:txBody>
      </p:sp>
      <p:sp>
        <p:nvSpPr>
          <p:cNvPr id="5" name="吹き出し: 角を丸めた四角形 7">
            <a:extLst>
              <a:ext uri="{FF2B5EF4-FFF2-40B4-BE49-F238E27FC236}">
                <a16:creationId xmlns:a16="http://schemas.microsoft.com/office/drawing/2014/main" id="{AA51C266-8F09-EA20-EC54-ED91BDE13C13}"/>
              </a:ext>
            </a:extLst>
          </p:cNvPr>
          <p:cNvSpPr/>
          <p:nvPr/>
        </p:nvSpPr>
        <p:spPr>
          <a:xfrm>
            <a:off x="8711913" y="1663973"/>
            <a:ext cx="2931141" cy="829129"/>
          </a:xfrm>
          <a:prstGeom prst="wedgeRoundRectCallout">
            <a:avLst>
              <a:gd name="adj1" fmla="val -72015"/>
              <a:gd name="adj2" fmla="val -45073"/>
              <a:gd name="adj3" fmla="val 16667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>
                <a:solidFill>
                  <a:schemeClr val="tx1"/>
                </a:solidFill>
              </a:rPr>
              <a:t>具体的な課題や動機が不明</a:t>
            </a:r>
          </a:p>
        </p:txBody>
      </p:sp>
      <p:sp>
        <p:nvSpPr>
          <p:cNvPr id="6" name="吹き出し: 角を丸めた四角形 7">
            <a:extLst>
              <a:ext uri="{FF2B5EF4-FFF2-40B4-BE49-F238E27FC236}">
                <a16:creationId xmlns:a16="http://schemas.microsoft.com/office/drawing/2014/main" id="{AC1727E4-5783-8737-7BF7-074EC60355C5}"/>
              </a:ext>
            </a:extLst>
          </p:cNvPr>
          <p:cNvSpPr/>
          <p:nvPr/>
        </p:nvSpPr>
        <p:spPr>
          <a:xfrm>
            <a:off x="763672" y="3839243"/>
            <a:ext cx="2931141" cy="829129"/>
          </a:xfrm>
          <a:prstGeom prst="wedgeRoundRectCallout">
            <a:avLst>
              <a:gd name="adj1" fmla="val 31556"/>
              <a:gd name="adj2" fmla="val -80364"/>
              <a:gd name="adj3" fmla="val 16667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>
                <a:solidFill>
                  <a:schemeClr val="tx1"/>
                </a:solidFill>
              </a:rPr>
              <a:t>目的が抽象的すぎる</a:t>
            </a:r>
          </a:p>
        </p:txBody>
      </p:sp>
      <p:sp>
        <p:nvSpPr>
          <p:cNvPr id="7" name="吹き出し: 角を丸めた四角形 7">
            <a:extLst>
              <a:ext uri="{FF2B5EF4-FFF2-40B4-BE49-F238E27FC236}">
                <a16:creationId xmlns:a16="http://schemas.microsoft.com/office/drawing/2014/main" id="{5097B2C9-46D8-2CFC-0066-3DBBB04A6841}"/>
              </a:ext>
            </a:extLst>
          </p:cNvPr>
          <p:cNvSpPr/>
          <p:nvPr/>
        </p:nvSpPr>
        <p:spPr>
          <a:xfrm>
            <a:off x="8711913" y="4212994"/>
            <a:ext cx="2931141" cy="829129"/>
          </a:xfrm>
          <a:prstGeom prst="wedgeRoundRectCallout">
            <a:avLst>
              <a:gd name="adj1" fmla="val -72015"/>
              <a:gd name="adj2" fmla="val -45073"/>
              <a:gd name="adj3" fmla="val 16667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rPr>
              <a:t>利用頻度、金額、期間が曖昧</a:t>
            </a:r>
            <a:endParaRPr kumimoji="1" lang="en-US" altLang="ja-JP" b="1" dirty="0">
              <a:solidFill>
                <a:schemeClr val="tx1"/>
              </a:solidFill>
              <a:latin typeface="Amazon Ember Display" panose="020F0603020204020204" pitchFamily="34" charset="0"/>
              <a:ea typeface="メイリオ" panose="020B0604030504040204" pitchFamily="34" charset="-128"/>
            </a:endParaRPr>
          </a:p>
          <a:p>
            <a:pPr algn="ctr"/>
            <a:r>
              <a:rPr kumimoji="1" lang="ja-JP" altLang="en-US" b="1">
                <a:solidFill>
                  <a:schemeClr val="tx1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rPr>
              <a:t>実際のユーザー行動が予測できない</a:t>
            </a:r>
            <a:endParaRPr kumimoji="1" lang="ja-JP" altLang="en-US" b="1" dirty="0">
              <a:solidFill>
                <a:schemeClr val="tx1"/>
              </a:solidFill>
              <a:latin typeface="Amazon Ember Display" panose="020F0603020204020204" pitchFamily="34" charset="0"/>
              <a:ea typeface="メイリオ" panose="020B0604030504040204" pitchFamily="34" charset="-128"/>
            </a:endParaRP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15395630-1634-7238-7324-0B41A73A67A4}"/>
              </a:ext>
            </a:extLst>
          </p:cNvPr>
          <p:cNvSpPr/>
          <p:nvPr/>
        </p:nvSpPr>
        <p:spPr>
          <a:xfrm>
            <a:off x="7639323" y="5795735"/>
            <a:ext cx="2931141" cy="829129"/>
          </a:xfrm>
          <a:prstGeom prst="wedgeRoundRectCallout">
            <a:avLst>
              <a:gd name="adj1" fmla="val -72015"/>
              <a:gd name="adj2" fmla="val -45073"/>
              <a:gd name="adj3" fmla="val 16667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rPr>
              <a:t>対象が広すぎる</a:t>
            </a:r>
            <a:endParaRPr kumimoji="1" lang="ja-JP" altLang="en-US" b="1" dirty="0">
              <a:solidFill>
                <a:schemeClr val="tx1"/>
              </a:solidFill>
              <a:latin typeface="Amazon Ember Display" panose="020F0603020204020204" pitchFamily="34" charset="0"/>
              <a:ea typeface="メイリオ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0930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2FB11-91A7-D02C-1AF9-C60FE5EB4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851BA2D-F835-4A5E-5611-B54E8CB3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148796A2-B52D-3B6B-5C6D-9994ED68F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XXXXXXXXXXXXXXX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EC32A8-6659-DFE9-0F68-11334A587A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11449050" cy="461665"/>
          </a:xfrm>
        </p:spPr>
        <p:txBody>
          <a:bodyPr/>
          <a:lstStyle/>
          <a:p>
            <a:r>
              <a:rPr lang="en-US" altLang="ja-JP" dirty="0"/>
              <a:t>XXXXXXXXXXXXXXXXXXXXXXXX</a:t>
            </a:r>
            <a:endParaRPr lang="ja-JP" altLang="en-US" dirty="0"/>
          </a:p>
        </p:txBody>
      </p:sp>
      <p:pic>
        <p:nvPicPr>
          <p:cNvPr id="25" name="グラフィックス 24" descr="男性 単色塗りつぶし">
            <a:extLst>
              <a:ext uri="{FF2B5EF4-FFF2-40B4-BE49-F238E27FC236}">
                <a16:creationId xmlns:a16="http://schemas.microsoft.com/office/drawing/2014/main" id="{A0EA084B-B1CF-A1F6-E19B-80F3C23B6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4642" y="3459784"/>
            <a:ext cx="1359478" cy="1359478"/>
          </a:xfrm>
          <a:prstGeom prst="rect">
            <a:avLst/>
          </a:prstGeom>
        </p:spPr>
      </p:pic>
      <p:sp>
        <p:nvSpPr>
          <p:cNvPr id="26" name="楕円 25">
            <a:extLst>
              <a:ext uri="{FF2B5EF4-FFF2-40B4-BE49-F238E27FC236}">
                <a16:creationId xmlns:a16="http://schemas.microsoft.com/office/drawing/2014/main" id="{752087BD-ABEB-29A7-2A1E-9AE1385C3085}"/>
              </a:ext>
            </a:extLst>
          </p:cNvPr>
          <p:cNvSpPr/>
          <p:nvPr/>
        </p:nvSpPr>
        <p:spPr>
          <a:xfrm>
            <a:off x="3538104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DFCA483-32ED-D4F0-FE78-1C94316F3581}"/>
              </a:ext>
            </a:extLst>
          </p:cNvPr>
          <p:cNvSpPr txBox="1"/>
          <p:nvPr/>
        </p:nvSpPr>
        <p:spPr>
          <a:xfrm>
            <a:off x="3938154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目的</a:t>
            </a:r>
            <a:endParaRPr kumimoji="1" lang="en-US" altLang="ja-JP" b="1" dirty="0">
              <a:solidFill>
                <a:srgbClr val="161E2D"/>
              </a:solidFill>
              <a:latin typeface="Amazon Ember Display"/>
              <a:ea typeface="メイリオ"/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0EFD62CB-B71F-B0CA-85BB-D9173477FA10}"/>
              </a:ext>
            </a:extLst>
          </p:cNvPr>
          <p:cNvSpPr/>
          <p:nvPr/>
        </p:nvSpPr>
        <p:spPr>
          <a:xfrm>
            <a:off x="5533159" y="2319046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3C7044C-459B-559D-B433-F74C44B96716}"/>
              </a:ext>
            </a:extLst>
          </p:cNvPr>
          <p:cNvSpPr txBox="1"/>
          <p:nvPr/>
        </p:nvSpPr>
        <p:spPr>
          <a:xfrm>
            <a:off x="6198176" y="2541483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行動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AC646327-31C7-98CB-EEB3-55F6ACD8859E}"/>
              </a:ext>
            </a:extLst>
          </p:cNvPr>
          <p:cNvSpPr/>
          <p:nvPr/>
        </p:nvSpPr>
        <p:spPr>
          <a:xfrm>
            <a:off x="4535631" y="3410251"/>
            <a:ext cx="2930237" cy="2930237"/>
          </a:xfrm>
          <a:prstGeom prst="ellipse">
            <a:avLst/>
          </a:prstGeom>
          <a:noFill/>
          <a:ln w="127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メイリオ"/>
              <a:cs typeface="+mn-cs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CAEE350-E8DC-CA7B-628D-970175FDA0B7}"/>
              </a:ext>
            </a:extLst>
          </p:cNvPr>
          <p:cNvSpPr txBox="1"/>
          <p:nvPr/>
        </p:nvSpPr>
        <p:spPr>
          <a:xfrm>
            <a:off x="5003222" y="5262300"/>
            <a:ext cx="202622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161E2D"/>
                </a:solidFill>
                <a:latin typeface="Amazon Ember Display"/>
                <a:ea typeface="メイリオ"/>
              </a:rPr>
              <a:t>属性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3580735-AC83-02A6-72EC-FF4BE182AAFC}"/>
              </a:ext>
            </a:extLst>
          </p:cNvPr>
          <p:cNvSpPr txBox="1"/>
          <p:nvPr/>
        </p:nvSpPr>
        <p:spPr>
          <a:xfrm>
            <a:off x="4551216" y="5644649"/>
            <a:ext cx="293023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ああああああ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8800D51-3FAE-BBAD-2CF9-696AAE0C5A59}"/>
              </a:ext>
            </a:extLst>
          </p:cNvPr>
          <p:cNvSpPr txBox="1"/>
          <p:nvPr/>
        </p:nvSpPr>
        <p:spPr>
          <a:xfrm>
            <a:off x="3823854" y="3306182"/>
            <a:ext cx="1636567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ああああああ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F14C207-611F-75D8-8723-47ED5D27CAEC}"/>
              </a:ext>
            </a:extLst>
          </p:cNvPr>
          <p:cNvSpPr txBox="1"/>
          <p:nvPr/>
        </p:nvSpPr>
        <p:spPr>
          <a:xfrm>
            <a:off x="6716858" y="3245755"/>
            <a:ext cx="2178664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kumimoji="1" lang="ja-JP" altLang="en-US" dirty="0">
                <a:solidFill>
                  <a:srgbClr val="161E2D"/>
                </a:solidFill>
                <a:latin typeface="Amazon Ember Display"/>
                <a:ea typeface="メイリオ"/>
              </a:rPr>
              <a:t>ああああああ</a:t>
            </a:r>
          </a:p>
        </p:txBody>
      </p:sp>
    </p:spTree>
    <p:extLst>
      <p:ext uri="{BB962C8B-B14F-4D97-AF65-F5344CB8AC3E}">
        <p14:creationId xmlns:p14="http://schemas.microsoft.com/office/powerpoint/2010/main" val="1412467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 Confidential Light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9669ED17-9462-D14C-B6E5-447B788E9B2B}" vid="{91E6B8BE-7767-2D49-A594-4B5A32E9F08B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96276</TotalTime>
  <Words>716</Words>
  <Application>Microsoft Macintosh PowerPoint</Application>
  <PresentationFormat>ワイド画面</PresentationFormat>
  <Paragraphs>132</Paragraphs>
  <Slides>8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システムフォント（レギュラー）</vt:lpstr>
      <vt:lpstr>Amazon Ember Display</vt:lpstr>
      <vt:lpstr>Arial</vt:lpstr>
      <vt:lpstr>AWS Confidential Light</vt:lpstr>
      <vt:lpstr>顧客は誰か ? </vt:lpstr>
      <vt:lpstr>OK例１ : 英会話サービス</vt:lpstr>
      <vt:lpstr>OK例２ :フィットネスアプリサービス </vt:lpstr>
      <vt:lpstr>OK例３ : AI家計分析アプリ </vt:lpstr>
      <vt:lpstr>OK例４ :子供向けオンライン学習サービス </vt:lpstr>
      <vt:lpstr>OK例５ : 中小企業向けクラウド会計サービス  </vt:lpstr>
      <vt:lpstr>NG例１ :健康管理サービス  </vt:lpstr>
      <vt:lpstr>XXXXXXXXXXXXXXX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Okoshi, Yuta</cp:lastModifiedBy>
  <cp:revision>1291</cp:revision>
  <dcterms:created xsi:type="dcterms:W3CDTF">2022-07-18T16:28:56Z</dcterms:created>
  <dcterms:modified xsi:type="dcterms:W3CDTF">2025-10-06T01:41:04Z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2025-06-02T13:15:19Z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26849944-aef8-4dbf-bc3e-c2245240b035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10, 3, 0, 1</vt:lpwstr>
  </property>
</Properties>
</file>